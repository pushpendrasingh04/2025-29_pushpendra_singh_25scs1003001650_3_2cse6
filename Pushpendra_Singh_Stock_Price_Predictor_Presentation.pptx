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STOCK PRICE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Aft>
                <a:spcPts val="1600"/>
              </a:spcAft>
              <a:defRPr sz="2700" b="1"/>
            </a:pPr>
            <a:r>
              <a:t>Internship Project Presentation</a:t>
            </a:r>
          </a:p>
          <a:p>
            <a:pPr algn="ctr">
              <a:spcAft>
                <a:spcPts val="1600"/>
              </a:spcAft>
              <a:defRPr sz="2000" b="0"/>
            </a:pPr>
            <a:r>
              <a:t>PUSHPENDRA SINGH</a:t>
            </a:r>
          </a:p>
          <a:p>
            <a:pPr algn="ctr">
              <a:spcAft>
                <a:spcPts val="1600"/>
              </a:spcAft>
              <a:defRPr sz="2000" b="0"/>
            </a:pPr>
            <a:r>
              <a:t>Roll No.: 25SCS1003001650</a:t>
            </a:r>
          </a:p>
          <a:p>
            <a:pPr algn="ctr">
              <a:spcAft>
                <a:spcPts val="1600"/>
              </a:spcAft>
              <a:defRPr sz="2000" b="0"/>
            </a:pPr>
            <a:r>
              <a:t>B.Tech CSE | Batch 2025–29 |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Organization: Codec Technologies Pvt. Ltd.</a:t>
            </a:r>
          </a:p>
          <a:p>
            <a:pPr>
              <a:spcAft>
                <a:spcPts val="1200"/>
              </a:spcAft>
              <a:defRPr sz="2000"/>
            </a:pPr>
            <a:r>
              <a:t>Role: Artificial Intelligence Intern</a:t>
            </a:r>
          </a:p>
          <a:p>
            <a:pPr>
              <a:spcAft>
                <a:spcPts val="1200"/>
              </a:spcAft>
              <a:defRPr sz="2000"/>
            </a:pPr>
            <a:r>
              <a:t>Duration: 20 July 2026 – 20 August 2026</a:t>
            </a:r>
          </a:p>
          <a:p>
            <a:pPr>
              <a:spcAft>
                <a:spcPts val="1200"/>
              </a:spcAft>
              <a:defRPr sz="2000"/>
            </a:pPr>
            <a:r>
              <a:t>Mode: Hybrid | Location: Pan India</a:t>
            </a:r>
          </a:p>
          <a:p>
            <a:pPr>
              <a:spcAft>
                <a:spcPts val="1200"/>
              </a:spcAft>
              <a:defRPr sz="2000"/>
            </a:pPr>
            <a:r>
              <a:t>Program Manager: Dr. Anurag Shrivastava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Machine Learning-based system for predicting stock prices using historical market data.</a:t>
            </a:r>
          </a:p>
          <a:p>
            <a:pPr>
              <a:spcAft>
                <a:spcPts val="1200"/>
              </a:spcAft>
              <a:defRPr sz="2000"/>
            </a:pPr>
            <a:r>
              <a:t>Uses variables such as Open, High, Low, Close, Adjusted Close and Volume where available.</a:t>
            </a:r>
          </a:p>
          <a:p>
            <a:pPr>
              <a:spcAft>
                <a:spcPts val="1200"/>
              </a:spcAft>
              <a:defRPr sz="2000"/>
            </a:pPr>
            <a:r>
              <a:t>Focuses on collecting, preprocessing, analysing and modelling historical stock data.</a:t>
            </a:r>
          </a:p>
          <a:p>
            <a:pPr>
              <a:spcAft>
                <a:spcPts val="1200"/>
              </a:spcAft>
              <a:defRPr sz="2000"/>
            </a:pPr>
            <a:r>
              <a:t>Predictions are estimates based on historical information—not guaranteed future prices or financial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Stock prices change continuously and are influenced by many factors.</a:t>
            </a:r>
          </a:p>
          <a:p>
            <a:pPr>
              <a:spcAft>
                <a:spcPts val="1200"/>
              </a:spcAft>
              <a:defRPr sz="2000"/>
            </a:pPr>
            <a:r>
              <a:t>Large historical datasets are difficult and time-consuming to analyse manually.</a:t>
            </a:r>
          </a:p>
          <a:p>
            <a:pPr>
              <a:spcAft>
                <a:spcPts val="1200"/>
              </a:spcAft>
              <a:defRPr sz="2000"/>
            </a:pPr>
            <a:r>
              <a:t>The project aims to build a Machine Learning model that uses historical data to generate stock-price predictions.</a:t>
            </a:r>
          </a:p>
          <a:p>
            <a:pPr>
              <a:spcAft>
                <a:spcPts val="1200"/>
              </a:spcAft>
              <a:defRPr sz="2000"/>
            </a:pPr>
            <a:r>
              <a:t>Time dependence requires chronological handling of training and testing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Understand historical stock-market data and important variables.</a:t>
            </a:r>
          </a:p>
          <a:p>
            <a:pPr>
              <a:spcAft>
                <a:spcPts val="1200"/>
              </a:spcAft>
              <a:defRPr sz="2000"/>
            </a:pPr>
            <a:r>
              <a:t>Collect, clean and preprocess historical stock data.</a:t>
            </a:r>
          </a:p>
          <a:p>
            <a:pPr>
              <a:spcAft>
                <a:spcPts val="1200"/>
              </a:spcAft>
              <a:defRPr sz="2000"/>
            </a:pPr>
            <a:r>
              <a:t>Analyse trends and identify relevant predictive features.</a:t>
            </a:r>
          </a:p>
          <a:p>
            <a:pPr>
              <a:spcAft>
                <a:spcPts val="1200"/>
              </a:spcAft>
              <a:defRPr sz="2000"/>
            </a:pPr>
            <a:r>
              <a:t>Develop and train a suitable Machine Learning model.</a:t>
            </a:r>
          </a:p>
          <a:p>
            <a:pPr>
              <a:spcAft>
                <a:spcPts val="1200"/>
              </a:spcAft>
              <a:defRPr sz="2000"/>
            </a:pPr>
            <a:r>
              <a:t>Test predictions against actual values and evaluate performance.</a:t>
            </a:r>
          </a:p>
          <a:p>
            <a:pPr>
              <a:spcAft>
                <a:spcPts val="1200"/>
              </a:spcAft>
              <a:defRPr sz="2000"/>
            </a:pPr>
            <a:r>
              <a:t>Build practical skills in Python, Data Analysis and Machine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Historical stock data analysis</a:t>
            </a:r>
          </a:p>
          <a:p>
            <a:pPr>
              <a:spcAft>
                <a:spcPts val="1200"/>
              </a:spcAft>
              <a:defRPr sz="1700"/>
            </a:pPr>
            <a:r>
              <a:t>Data collection and quality handling</a:t>
            </a:r>
          </a:p>
          <a:p>
            <a:pPr>
              <a:spcAft>
                <a:spcPts val="1200"/>
              </a:spcAft>
              <a:defRPr sz="1700"/>
            </a:pPr>
            <a:r>
              <a:t>Preprocessing and feature engineering</a:t>
            </a:r>
          </a:p>
          <a:p>
            <a:pPr>
              <a:spcAft>
                <a:spcPts val="1200"/>
              </a:spcAft>
              <a:defRPr sz="1700"/>
            </a:pPr>
            <a:r>
              <a:t>Statistical analysis and visualization</a:t>
            </a:r>
          </a:p>
          <a:p>
            <a:pPr>
              <a:spcAft>
                <a:spcPts val="1200"/>
              </a:spcAft>
              <a:defRPr sz="1700"/>
            </a:pPr>
            <a:r>
              <a:t>Machine Learning model development</a:t>
            </a:r>
          </a:p>
          <a:p>
            <a:pPr>
              <a:spcAft>
                <a:spcPts val="1200"/>
              </a:spcAft>
              <a:defRPr sz="1700"/>
            </a:pPr>
            <a:r>
              <a:t>Chronological model testing</a:t>
            </a:r>
          </a:p>
          <a:p>
            <a:pPr>
              <a:spcAft>
                <a:spcPts val="1200"/>
              </a:spcAft>
              <a:defRPr sz="1700"/>
            </a:pPr>
            <a:r>
              <a:t>Performance evaluation using MAE, RMSE and R²</a:t>
            </a:r>
          </a:p>
          <a:p>
            <a:pPr>
              <a:spcAft>
                <a:spcPts val="1200"/>
              </a:spcAft>
              <a:defRPr sz="1700"/>
            </a:pPr>
            <a:r>
              <a:t>Actual-vs-predicted visualization and future expansion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TECHNOLOGIES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Python — primary programming language</a:t>
            </a:r>
          </a:p>
          <a:p>
            <a:pPr>
              <a:spcAft>
                <a:spcPts val="1200"/>
              </a:spcAft>
              <a:defRPr sz="1700"/>
            </a:pPr>
            <a:r>
              <a:t>Jupyter Notebook — interactive analysis</a:t>
            </a:r>
          </a:p>
          <a:p>
            <a:pPr>
              <a:spcAft>
                <a:spcPts val="1200"/>
              </a:spcAft>
              <a:defRPr sz="1700"/>
            </a:pPr>
            <a:r>
              <a:t>NumPy — numerical computation</a:t>
            </a:r>
          </a:p>
          <a:p>
            <a:pPr>
              <a:spcAft>
                <a:spcPts val="1200"/>
              </a:spcAft>
              <a:defRPr sz="1700"/>
            </a:pPr>
            <a:r>
              <a:t>Pandas — data loading and preprocessing</a:t>
            </a:r>
          </a:p>
          <a:p>
            <a:pPr>
              <a:spcAft>
                <a:spcPts val="1200"/>
              </a:spcAft>
              <a:defRPr sz="1700"/>
            </a:pPr>
            <a:r>
              <a:t>Matplotlib — visualization</a:t>
            </a:r>
          </a:p>
          <a:p>
            <a:pPr>
              <a:spcAft>
                <a:spcPts val="1200"/>
              </a:spcAft>
              <a:defRPr sz="1700"/>
            </a:pPr>
            <a:r>
              <a:t>Scikit-learn — ML training and evaluation</a:t>
            </a:r>
          </a:p>
          <a:p>
            <a:pPr>
              <a:spcAft>
                <a:spcPts val="1200"/>
              </a:spcAft>
              <a:defRPr sz="1700"/>
            </a:pPr>
            <a:r>
              <a:t>Random Forest Regression — baseline model</a:t>
            </a:r>
          </a:p>
          <a:p>
            <a:pPr>
              <a:spcAft>
                <a:spcPts val="1200"/>
              </a:spcAft>
              <a:defRPr sz="1700"/>
            </a:pPr>
            <a:r>
              <a:t>Git &amp; GitHub — version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Historical Stock Data → Data Collection → Data Preprocessing → Exploratory Data Analysis</a:t>
            </a:r>
          </a:p>
          <a:p>
            <a:pPr>
              <a:spcAft>
                <a:spcPts val="1200"/>
              </a:spcAft>
              <a:defRPr sz="2000"/>
            </a:pPr>
            <a:r>
              <a:t>→ Feature Engineering → Chronological Train/Test Split</a:t>
            </a:r>
          </a:p>
          <a:p>
            <a:pPr>
              <a:spcAft>
                <a:spcPts val="1200"/>
              </a:spcAft>
              <a:defRPr sz="2000"/>
            </a:pPr>
            <a:r>
              <a:t>→ Machine Learning Model → Training → Prediction → Evaluation → Final Output</a:t>
            </a:r>
          </a:p>
          <a:p>
            <a:pPr>
              <a:spcAft>
                <a:spcPts val="1200"/>
              </a:spcAft>
              <a:defRPr sz="2000"/>
            </a:pPr>
            <a:r>
              <a:t>Key engineered inputs: lagged closing prices and rolling averages.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1. Identify the prediction problem</a:t>
            </a:r>
          </a:p>
          <a:p>
            <a:pPr>
              <a:spcAft>
                <a:spcPts val="1200"/>
              </a:spcAft>
              <a:defRPr sz="1700"/>
            </a:pPr>
            <a:r>
              <a:t>2. Collect CSV data containing Date and Close; Volume where available</a:t>
            </a:r>
          </a:p>
          <a:p>
            <a:pPr>
              <a:spcAft>
                <a:spcPts val="1200"/>
              </a:spcAft>
              <a:defRPr sz="1700"/>
            </a:pPr>
            <a:r>
              <a:t>3. Understand columns, data types, missing values and chronology</a:t>
            </a:r>
          </a:p>
          <a:p>
            <a:pPr>
              <a:spcAft>
                <a:spcPts val="1200"/>
              </a:spcAft>
              <a:defRPr sz="1700"/>
            </a:pPr>
            <a:r>
              <a:t>4. Clean, convert, sort and remove duplicates</a:t>
            </a:r>
          </a:p>
          <a:p>
            <a:pPr>
              <a:spcAft>
                <a:spcPts val="1200"/>
              </a:spcAft>
              <a:defRPr sz="1700"/>
            </a:pPr>
            <a:r>
              <a:t>5. Create 1, 2, 3 and 5-day lags; 5-day and 10-day moving averages; one-day return</a:t>
            </a:r>
          </a:p>
          <a:p>
            <a:pPr>
              <a:spcAft>
                <a:spcPts val="1200"/>
              </a:spcAft>
              <a:defRPr sz="1700"/>
            </a:pPr>
            <a:r>
              <a:t>6. Chronological train/test split</a:t>
            </a:r>
          </a:p>
          <a:p>
            <a:pPr>
              <a:spcAft>
                <a:spcPts val="1200"/>
              </a:spcAft>
              <a:defRPr sz="1700"/>
            </a:pPr>
            <a:r>
              <a:t>7. Train Random Forest Regression</a:t>
            </a:r>
          </a:p>
          <a:p>
            <a:pPr>
              <a:spcAft>
                <a:spcPts val="1200"/>
              </a:spcAft>
              <a:defRPr sz="1700"/>
            </a:pPr>
            <a:r>
              <a:t>8. Predict next-day closing prices</a:t>
            </a:r>
          </a:p>
          <a:p>
            <a:pPr>
              <a:spcAft>
                <a:spcPts val="1200"/>
              </a:spcAft>
              <a:defRPr sz="1700"/>
            </a:pPr>
            <a:r>
              <a:t>9. Evaluate using MAE, RMSE and R²</a:t>
            </a:r>
          </a:p>
          <a:p>
            <a:pPr>
              <a:spcAft>
                <a:spcPts val="1200"/>
              </a:spcAft>
              <a:defRPr sz="1700"/>
            </a:pPr>
            <a:r>
              <a:t>10. Plot actual vs predicted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MODEL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Model: Random Forest Regression as the baseline implementation.</a:t>
            </a:r>
          </a:p>
          <a:p>
            <a:pPr>
              <a:spcAft>
                <a:spcPts val="1200"/>
              </a:spcAft>
              <a:defRPr sz="2000"/>
            </a:pPr>
            <a:r>
              <a:t>Lag features: previous 1, 2, 3 and 5 trading-day closing prices.</a:t>
            </a:r>
          </a:p>
          <a:p>
            <a:pPr>
              <a:spcAft>
                <a:spcPts val="1200"/>
              </a:spcAft>
              <a:defRPr sz="2000"/>
            </a:pPr>
            <a:r>
              <a:t>Moving averages: 5-day and 10-day averages.</a:t>
            </a:r>
          </a:p>
          <a:p>
            <a:pPr>
              <a:spcAft>
                <a:spcPts val="1200"/>
              </a:spcAft>
              <a:defRPr sz="2000"/>
            </a:pPr>
            <a:r>
              <a:t>Return feature: one-day percentage return.</a:t>
            </a:r>
          </a:p>
          <a:p>
            <a:pPr>
              <a:spcAft>
                <a:spcPts val="1200"/>
              </a:spcAft>
              <a:defRPr sz="2000"/>
            </a:pPr>
            <a:r>
              <a:t>Chronological split prevents future observations from being randomly mixed into training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Working stock-price prediction model</a:t>
            </a:r>
          </a:p>
          <a:p>
            <a:pPr>
              <a:spcAft>
                <a:spcPts val="1200"/>
              </a:spcAft>
              <a:defRPr sz="2000"/>
            </a:pPr>
            <a:r>
              <a:t>Improved understanding of financial datasets</a:t>
            </a:r>
          </a:p>
          <a:p>
            <a:pPr>
              <a:spcAft>
                <a:spcPts val="1200"/>
              </a:spcAft>
              <a:defRPr sz="2000"/>
            </a:pPr>
            <a:r>
              <a:t>Practical experience with preprocessing and visualization</a:t>
            </a:r>
          </a:p>
          <a:p>
            <a:pPr>
              <a:spcAft>
                <a:spcPts val="1200"/>
              </a:spcAft>
              <a:defRPr sz="2000"/>
            </a:pPr>
            <a:r>
              <a:t>Knowledge of model training, testing and evaluation</a:t>
            </a:r>
          </a:p>
          <a:p>
            <a:pPr>
              <a:spcAft>
                <a:spcPts val="1200"/>
              </a:spcAft>
              <a:defRPr sz="2000"/>
            </a:pPr>
            <a:r>
              <a:t>Improved Python, analytical and problem-solving skills</a:t>
            </a:r>
          </a:p>
          <a:p>
            <a:pPr>
              <a:spcAft>
                <a:spcPts val="1200"/>
              </a:spcAft>
              <a:defRPr sz="2000"/>
            </a:pPr>
            <a:r>
              <a:t>Foundation for future financial forecasting and Data Science projects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RESULTS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report intentionally does not fabricate evaluation results.</a:t>
            </a:r>
          </a:p>
          <a:p>
            <a:pPr>
              <a:spcAft>
                <a:spcPts val="1200"/>
              </a:spcAft>
              <a:defRPr sz="2000"/>
            </a:pPr>
            <a:r>
              <a:t>MAE, RMSE and R² should be calculated after running the implementation on the actual historical dataset.</a:t>
            </a:r>
          </a:p>
          <a:p>
            <a:pPr>
              <a:spcAft>
                <a:spcPts val="1200"/>
              </a:spcAft>
              <a:defRPr sz="2000"/>
            </a:pPr>
            <a:r>
              <a:t>Stock prices are affected by unpredictable factors, so historical-data-based predictions have limitations.</a:t>
            </a:r>
          </a:p>
          <a:p>
            <a:pPr>
              <a:spcAft>
                <a:spcPts val="1200"/>
              </a:spcAft>
              <a:defRPr sz="2000"/>
            </a:pPr>
            <a:r>
              <a:t>Future improvements: larger datasets, additional indicators, advanced time-series models and deep learning.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PROJECT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prediction_results.csv — saved prediction results</a:t>
            </a:r>
          </a:p>
          <a:p>
            <a:pPr>
              <a:spcAft>
                <a:spcPts val="1200"/>
              </a:spcAft>
              <a:defRPr sz="2000"/>
            </a:pPr>
            <a:r>
              <a:t>actual_vs_predicted.png — comparison visualization</a:t>
            </a:r>
          </a:p>
          <a:p>
            <a:pPr>
              <a:spcAft>
                <a:spcPts val="1200"/>
              </a:spcAft>
              <a:defRPr sz="2000"/>
            </a:pPr>
            <a:r>
              <a:t>Evaluation metrics: MAE, RMSE and R²</a:t>
            </a:r>
          </a:p>
          <a:p>
            <a:pPr>
              <a:spcAft>
                <a:spcPts val="1200"/>
              </a:spcAft>
              <a:defRPr sz="2000"/>
            </a:pPr>
            <a:r>
              <a:t>Runnable Python implementation prepared separately</a:t>
            </a:r>
          </a:p>
          <a:p>
            <a:pPr>
              <a:spcAft>
                <a:spcPts val="1200"/>
              </a:spcAft>
              <a:defRPr sz="2000"/>
            </a:pPr>
            <a:r>
              <a:t>Input requires at minimum Date and Close columns; Volume is recommended.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Connected academic concepts with practical AI/ML implementation.</a:t>
            </a:r>
          </a:p>
          <a:p>
            <a:pPr>
              <a:spcAft>
                <a:spcPts val="1200"/>
              </a:spcAft>
              <a:defRPr sz="2000"/>
            </a:pPr>
            <a:r>
              <a:t>Strengthened programming and data-handling skills.</a:t>
            </a:r>
          </a:p>
          <a:p>
            <a:pPr>
              <a:spcAft>
                <a:spcPts val="1200"/>
              </a:spcAft>
              <a:defRPr sz="2000"/>
            </a:pPr>
            <a:r>
              <a:t>Learned the importance of chronological modelling for time-dependent data.</a:t>
            </a:r>
          </a:p>
          <a:p>
            <a:pPr>
              <a:spcAft>
                <a:spcPts val="1200"/>
              </a:spcAft>
              <a:defRPr sz="2000"/>
            </a:pPr>
            <a:r>
              <a:t>Gained experience in feature engineering, model training and evaluation.</a:t>
            </a:r>
          </a:p>
          <a:p>
            <a:pPr>
              <a:spcAft>
                <a:spcPts val="1200"/>
              </a:spcAft>
              <a:defRPr sz="2000"/>
            </a:pPr>
            <a:r>
              <a:t>Developed a foundation for future work in financial forecasting.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Géron — Hands-On Machine Learning with Scikit-Learn, Keras, and TensorFlow</a:t>
            </a:r>
          </a:p>
          <a:p>
            <a:pPr>
              <a:spcAft>
                <a:spcPts val="1200"/>
              </a:spcAft>
              <a:defRPr sz="2000"/>
            </a:pPr>
            <a:r>
              <a:t>McKinney — Python for Data Analysis</a:t>
            </a:r>
          </a:p>
          <a:p>
            <a:pPr>
              <a:spcAft>
                <a:spcPts val="1200"/>
              </a:spcAft>
              <a:defRPr sz="2000"/>
            </a:pPr>
            <a:r>
              <a:t>Hastie, Tibshirani &amp; Friedman — The Elements of Statistical Learning</a:t>
            </a:r>
          </a:p>
          <a:p>
            <a:pPr>
              <a:spcAft>
                <a:spcPts val="1200"/>
              </a:spcAft>
              <a:defRPr sz="2000"/>
            </a:pPr>
            <a:r>
              <a:t>Tsay — Analysis of Financial Time Series</a:t>
            </a:r>
          </a:p>
          <a:p>
            <a:pPr>
              <a:spcAft>
                <a:spcPts val="1200"/>
              </a:spcAft>
              <a:defRPr sz="2000"/>
            </a:pPr>
            <a:r>
              <a:t>Python, NumPy, Pandas, Scikit-learn and Matplotlib documentation</a:t>
            </a:r>
          </a:p>
          <a:p>
            <a:pPr>
              <a:spcAft>
                <a:spcPts val="1200"/>
              </a:spcAft>
              <a:defRPr sz="2000"/>
            </a:pPr>
            <a:r>
              <a:t>Codec Technologies Pvt. Ltd. internship documents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Aft>
                <a:spcPts val="1600"/>
              </a:spcAft>
              <a:defRPr sz="2700" b="1"/>
            </a:pPr>
            <a:r>
              <a:t>PUSHPENDRA SINGH</a:t>
            </a:r>
          </a:p>
          <a:p>
            <a:pPr algn="ctr">
              <a:spcAft>
                <a:spcPts val="1600"/>
              </a:spcAft>
              <a:defRPr sz="2000" b="0"/>
            </a:pPr>
            <a:r>
              <a:t>B.Tech CSE | IILM University, Greater Noida</a:t>
            </a:r>
          </a:p>
          <a:p>
            <a:pPr algn="ctr">
              <a:spcAft>
                <a:spcPts val="1600"/>
              </a:spcAft>
              <a:defRPr sz="2000" b="0"/>
            </a:pPr>
            <a:r>
              <a:t>Stock Price Predictor</a:t>
            </a:r>
          </a:p>
          <a:p>
            <a:pPr algn="ctr">
              <a:spcAft>
                <a:spcPts val="1600"/>
              </a:spcAft>
              <a:defRPr sz="2000" b="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